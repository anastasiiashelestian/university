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61454D-4F72-4D4D-BF27-7AD6309783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Элейская школа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ECF2DC25-22AC-B154-FD78-CD513652BC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 конец VI − первая половина V века до н. э.</a:t>
            </a:r>
          </a:p>
        </p:txBody>
      </p:sp>
    </p:spTree>
    <p:extLst>
      <p:ext uri="{BB962C8B-B14F-4D97-AF65-F5344CB8AC3E}">
        <p14:creationId xmlns:p14="http://schemas.microsoft.com/office/powerpoint/2010/main" val="12375535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CF98D6-F257-9F55-614A-2D6B6370E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786740"/>
          </a:xfrm>
        </p:spPr>
        <p:txBody>
          <a:bodyPr/>
          <a:lstStyle/>
          <a:p>
            <a:pPr algn="ctr"/>
            <a:r>
              <a:rPr lang="ru-RU" sz="3600" dirty="0"/>
              <a:t>г. ЭЛЕЯ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D1B37E5E-2909-0FE7-FB88-1A5AFCADFD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74594" y="685800"/>
            <a:ext cx="5175250" cy="517525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683601CF-9115-332E-F745-D93936F011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90945" y="1472541"/>
            <a:ext cx="4667003" cy="505888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bg1"/>
                </a:solidFill>
                <a:effectLst/>
              </a:rPr>
              <a:t> Элейская школа - школа древнегреческой философии, получившая свое название по греческому городу Элее (другое название - </a:t>
            </a:r>
            <a:r>
              <a:rPr lang="ru-RU" b="0" i="0" dirty="0" err="1">
                <a:solidFill>
                  <a:schemeClr val="bg1"/>
                </a:solidFill>
                <a:effectLst/>
              </a:rPr>
              <a:t>Велия</a:t>
            </a:r>
            <a:r>
              <a:rPr lang="ru-RU" b="0" i="0" dirty="0">
                <a:solidFill>
                  <a:schemeClr val="bg1"/>
                </a:solidFill>
                <a:effectLst/>
              </a:rPr>
              <a:t>) на юге Италии. Учение школы было основано на двух принципах: бытие едино, а изменения иллюзорны. (предложив впервые сам этот термин), заложив фундамент классической греческой онтологии.</a:t>
            </a:r>
            <a:endParaRPr lang="ru-RU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bg1"/>
                </a:solidFill>
                <a:effectLst/>
              </a:rPr>
              <a:t>Основателем школы обычно считается Ксенофан из Колофона (р. </a:t>
            </a:r>
            <a:r>
              <a:rPr lang="ru-RU" b="0" i="0" dirty="0" err="1">
                <a:solidFill>
                  <a:schemeClr val="bg1"/>
                </a:solidFill>
                <a:effectLst/>
              </a:rPr>
              <a:t>ок</a:t>
            </a:r>
            <a:r>
              <a:rPr lang="ru-RU" b="0" i="0" dirty="0">
                <a:solidFill>
                  <a:schemeClr val="bg1"/>
                </a:solidFill>
                <a:effectLst/>
              </a:rPr>
              <a:t>. 570 года до н.э.), хотя до полного развития довели в 5 в. до н.э. Парменид (р. </a:t>
            </a:r>
            <a:r>
              <a:rPr lang="ru-RU" b="0" i="0" dirty="0" err="1">
                <a:solidFill>
                  <a:schemeClr val="bg1"/>
                </a:solidFill>
                <a:effectLst/>
              </a:rPr>
              <a:t>ок</a:t>
            </a:r>
            <a:r>
              <a:rPr lang="ru-RU" b="0" i="0" dirty="0">
                <a:solidFill>
                  <a:schemeClr val="bg1"/>
                </a:solidFill>
                <a:effectLst/>
              </a:rPr>
              <a:t>. 515 года до н.э.) и Зенон Элейский (р. </a:t>
            </a:r>
            <a:r>
              <a:rPr lang="ru-RU" b="0" i="0" dirty="0" err="1">
                <a:solidFill>
                  <a:schemeClr val="bg1"/>
                </a:solidFill>
                <a:effectLst/>
              </a:rPr>
              <a:t>ок</a:t>
            </a:r>
            <a:r>
              <a:rPr lang="ru-RU" b="0" i="0" dirty="0">
                <a:solidFill>
                  <a:schemeClr val="bg1"/>
                </a:solidFill>
                <a:effectLst/>
              </a:rPr>
              <a:t>. 490 года до н.э.).</a:t>
            </a:r>
            <a:endParaRPr lang="ru-RU" b="0" i="0" dirty="0">
              <a:solidFill>
                <a:schemeClr val="bg1"/>
              </a:solidFill>
              <a:effectLst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1586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034E6-3328-805C-646B-45353ACFE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A03741-C03D-CD81-129C-B7FD607E0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786740"/>
          </a:xfrm>
        </p:spPr>
        <p:txBody>
          <a:bodyPr/>
          <a:lstStyle/>
          <a:p>
            <a:pPr algn="ctr"/>
            <a:r>
              <a:rPr lang="ru-RU" sz="2800" dirty="0"/>
              <a:t>Основные положения элеатов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88C04F4-F7D5-1421-AD19-08BC0A873A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90945" y="1995055"/>
            <a:ext cx="4667003" cy="4536374"/>
          </a:xfrm>
        </p:spPr>
        <p:txBody>
          <a:bodyPr>
            <a:normAutofit/>
          </a:bodyPr>
          <a:lstStyle/>
          <a:p>
            <a:r>
              <a:rPr lang="ru-RU" b="0" i="0" dirty="0">
                <a:solidFill>
                  <a:schemeClr val="bg1"/>
                </a:solidFill>
                <a:effectLst/>
              </a:rPr>
              <a:t>В понятии бытия, как его осмыслили элеаты содержится три момента:</a:t>
            </a:r>
          </a:p>
          <a:p>
            <a:pPr marL="342900" indent="-342900">
              <a:buFont typeface="+mj-lt"/>
              <a:buAutoNum type="arabicPeriod"/>
            </a:pPr>
            <a:r>
              <a:rPr lang="ru-RU" b="0" i="0" dirty="0">
                <a:solidFill>
                  <a:schemeClr val="bg1"/>
                </a:solidFill>
                <a:effectLst/>
              </a:rPr>
              <a:t>Бытие есть, а небытия нет.</a:t>
            </a:r>
          </a:p>
          <a:p>
            <a:pPr marL="342900" indent="-342900">
              <a:buFont typeface="+mj-lt"/>
              <a:buAutoNum type="arabicPeriod"/>
            </a:pPr>
            <a:r>
              <a:rPr lang="ru-RU" b="0" i="0" dirty="0">
                <a:solidFill>
                  <a:schemeClr val="bg1"/>
                </a:solidFill>
                <a:effectLst/>
              </a:rPr>
              <a:t>Бытие одно, и оно неделимо.</a:t>
            </a:r>
          </a:p>
          <a:p>
            <a:pPr marL="342900" indent="-342900">
              <a:buFont typeface="+mj-lt"/>
              <a:buAutoNum type="arabicPeriod"/>
            </a:pPr>
            <a:r>
              <a:rPr lang="ru-RU" b="0" i="0" dirty="0">
                <a:solidFill>
                  <a:schemeClr val="bg1"/>
                </a:solidFill>
                <a:effectLst/>
              </a:rPr>
              <a:t>Бытие познаваемо, а небытие (видимость) непознаваемо: его нет для разума, а значит, оно не существует.</a:t>
            </a:r>
          </a:p>
          <a:p>
            <a:r>
              <a:rPr lang="ru-RU" b="0" i="0" dirty="0">
                <a:solidFill>
                  <a:schemeClr val="bg1"/>
                </a:solidFill>
                <a:effectLst/>
              </a:rPr>
              <a:t>Окружающий мир элеаты рассматривали как нечто изменчивое и подвижное, представляя в рамках чувственного познания.</a:t>
            </a:r>
          </a:p>
        </p:txBody>
      </p:sp>
      <p:pic>
        <p:nvPicPr>
          <p:cNvPr id="3" name="Объект 5">
            <a:extLst>
              <a:ext uri="{FF2B5EF4-FFF2-40B4-BE49-F238E27FC236}">
                <a16:creationId xmlns:a16="http://schemas.microsoft.com/office/drawing/2014/main" id="{005B1D49-7606-7AEA-CFD8-A722B24BE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0522" y="2042556"/>
            <a:ext cx="6546060" cy="213459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Объект 6">
            <a:extLst>
              <a:ext uri="{FF2B5EF4-FFF2-40B4-BE49-F238E27FC236}">
                <a16:creationId xmlns:a16="http://schemas.microsoft.com/office/drawing/2014/main" id="{50D90D00-CC15-8C3B-61C4-42C72156B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7135" y="685800"/>
            <a:ext cx="5512625" cy="572984"/>
          </a:xfrm>
        </p:spPr>
        <p:txBody>
          <a:bodyPr>
            <a:normAutofit/>
          </a:bodyPr>
          <a:lstStyle/>
          <a:p>
            <a:r>
              <a:rPr lang="ru-RU" sz="1800" dirty="0"/>
              <a:t>Зенон показывает юношам двери к истине и лжи</a:t>
            </a:r>
          </a:p>
        </p:txBody>
      </p:sp>
    </p:spTree>
    <p:extLst>
      <p:ext uri="{BB962C8B-B14F-4D97-AF65-F5344CB8AC3E}">
        <p14:creationId xmlns:p14="http://schemas.microsoft.com/office/powerpoint/2010/main" val="30759711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E449C0-3C31-10B6-CBFD-E6AB8B8112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Ксенофан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BC5170E-433C-4831-8249-60C66DADE1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Как предшественник Элейской школы</a:t>
            </a:r>
          </a:p>
        </p:txBody>
      </p:sp>
    </p:spTree>
    <p:extLst>
      <p:ext uri="{BB962C8B-B14F-4D97-AF65-F5344CB8AC3E}">
        <p14:creationId xmlns:p14="http://schemas.microsoft.com/office/powerpoint/2010/main" val="24784569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E11AAD-3977-5A42-D60A-55A9D3356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Ксенофан (конец </a:t>
            </a:r>
            <a:r>
              <a:rPr lang="en-US" sz="4000" dirty="0"/>
              <a:t>VI –</a:t>
            </a:r>
            <a:r>
              <a:rPr lang="ru-RU" sz="4000" dirty="0"/>
              <a:t> начало</a:t>
            </a:r>
            <a:r>
              <a:rPr lang="en-US" sz="4000" dirty="0"/>
              <a:t> V</a:t>
            </a:r>
            <a:r>
              <a:rPr lang="ru-RU" sz="4000" dirty="0"/>
              <a:t> в. до </a:t>
            </a:r>
            <a:r>
              <a:rPr lang="ru-RU" sz="4000" dirty="0" err="1"/>
              <a:t>н.э</a:t>
            </a:r>
            <a:r>
              <a:rPr lang="ru-RU" sz="4000" dirty="0"/>
              <a:t>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00CF52-9683-F130-7F80-3CA8333E3B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1764174"/>
            <a:ext cx="5770605" cy="4040660"/>
          </a:xfrm>
        </p:spPr>
        <p:txBody>
          <a:bodyPr>
            <a:normAutofit fontScale="92500" lnSpcReduction="20000"/>
          </a:bodyPr>
          <a:lstStyle/>
          <a:p>
            <a:r>
              <a:rPr lang="ru-RU" b="0" i="0" dirty="0">
                <a:solidFill>
                  <a:srgbClr val="333333"/>
                </a:solidFill>
                <a:effectLst/>
              </a:rPr>
              <a:t>Один из основателей знаменитой философской Элейской школы Ксенофан (565— 470 гг. до н. э. ) был родом из города Колофон, что на Востоке Греции. Из-за персидского нашествия он был вынужден покинуть родные места.</a:t>
            </a:r>
          </a:p>
          <a:p>
            <a:r>
              <a:rPr lang="ru-RU" b="0" i="0" dirty="0">
                <a:solidFill>
                  <a:srgbClr val="333333"/>
                </a:solidFill>
                <a:effectLst/>
              </a:rPr>
              <a:t>Почти 67 лет философ и поэт странствовал по Великой Греции и публично излагал свои сочинения — эпические стихи, элегии и басни. В конце концов он поселился в городе Элее на юге Италии, где и дожил до 95 лет.</a:t>
            </a:r>
          </a:p>
          <a:p>
            <a:r>
              <a:rPr lang="ru-RU" b="0" i="0" dirty="0">
                <a:solidFill>
                  <a:srgbClr val="333333"/>
                </a:solidFill>
                <a:effectLst/>
              </a:rPr>
              <a:t>В некоторых источника говориться, что он являлся учителем для Парменида.</a:t>
            </a:r>
          </a:p>
          <a:p>
            <a:r>
              <a:rPr lang="ru-RU" b="0" i="0" dirty="0">
                <a:solidFill>
                  <a:srgbClr val="333333"/>
                </a:solidFill>
                <a:effectLst/>
              </a:rPr>
              <a:t>Его учения касаются теологии и физики. Он старался провести идею единства всего существующего и тождества единого с Божеством.</a:t>
            </a:r>
          </a:p>
          <a:p>
            <a:endParaRPr lang="ru-RU" b="0" i="0" dirty="0">
              <a:solidFill>
                <a:srgbClr val="333333"/>
              </a:solidFill>
              <a:effectLst/>
            </a:endParaRP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8A6BFB23-E7E9-2460-CD12-BD65D084F37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821827" y="1764174"/>
            <a:ext cx="3390789" cy="44080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5931561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09B76-FF91-300E-F0A3-E99DAAB65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A91E3E-7F16-D4C2-3567-AFA99B1E2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786740"/>
          </a:xfrm>
        </p:spPr>
        <p:txBody>
          <a:bodyPr/>
          <a:lstStyle/>
          <a:p>
            <a:pPr algn="ctr"/>
            <a:r>
              <a:rPr lang="ru-RU" sz="2800" dirty="0"/>
              <a:t>Основные идеи Ксенофана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624A1AE-BCE2-CF7D-F2A8-A2B3BDC890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8258" y="1751611"/>
            <a:ext cx="4667003" cy="4536374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bg1"/>
                </a:solidFill>
                <a:effectLst/>
              </a:rPr>
              <a:t>По Ксенофану, «Люди и животные родились из земли и воды». Земля, по его мнению, возникла из моря, что обосновывается наличием в ней окаменелостей морских животных, и временами вновь погружается в море.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bg1"/>
                </a:solidFill>
                <a:effectLst/>
              </a:rPr>
              <a:t>Ксенофан часто критиковал религию и веру, отмечая, что боги созданы по образу и подобию человека.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bg1"/>
                </a:solidFill>
                <a:effectLst/>
              </a:rPr>
              <a:t>Ксенофан критиковал существовавшие социальные устои, подчёркивая, что спортивные достижения менее важны, чем мудрость философа</a:t>
            </a:r>
          </a:p>
          <a:p>
            <a:endParaRPr lang="ru-RU" b="0" i="0" dirty="0">
              <a:solidFill>
                <a:schemeClr val="bg1"/>
              </a:solidFill>
              <a:effectLst/>
            </a:endParaRPr>
          </a:p>
        </p:txBody>
      </p:sp>
      <p:pic>
        <p:nvPicPr>
          <p:cNvPr id="1026" name="Picture 2" descr="Ксенофан — Википедия">
            <a:extLst>
              <a:ext uri="{FF2B5EF4-FFF2-40B4-BE49-F238E27FC236}">
                <a16:creationId xmlns:a16="http://schemas.microsoft.com/office/drawing/2014/main" id="{5DA340C1-7EA1-C782-FD72-AE04C8796D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567" y="608610"/>
            <a:ext cx="3905456" cy="564077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06685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88418-C09D-2C5B-FF16-0C92EA395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CD84B0-94A3-E4BC-A257-824F48F116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dirty="0" err="1"/>
              <a:t>парменид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172323D-CD11-E449-2749-75E9D4C082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Как основатель Элейской школы</a:t>
            </a:r>
          </a:p>
        </p:txBody>
      </p:sp>
    </p:spTree>
    <p:extLst>
      <p:ext uri="{BB962C8B-B14F-4D97-AF65-F5344CB8AC3E}">
        <p14:creationId xmlns:p14="http://schemas.microsoft.com/office/powerpoint/2010/main" val="35435839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CFD9B-165C-296D-132B-778F5B50F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659E17-86C4-1B0B-8C64-D773707E5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Парменид (</a:t>
            </a:r>
            <a:r>
              <a:rPr lang="uk-UA" sz="4000" dirty="0"/>
              <a:t>540-</a:t>
            </a:r>
            <a:r>
              <a:rPr lang="en-US" sz="4000" dirty="0"/>
              <a:t>e</a:t>
            </a:r>
            <a:r>
              <a:rPr lang="uk-UA" sz="4000" dirty="0"/>
              <a:t> – 470</a:t>
            </a:r>
            <a:r>
              <a:rPr lang="en-US" sz="4000" dirty="0"/>
              <a:t>-e</a:t>
            </a:r>
            <a:r>
              <a:rPr lang="uk-UA" sz="4000" dirty="0"/>
              <a:t> </a:t>
            </a:r>
            <a:r>
              <a:rPr lang="uk-UA" sz="4000" dirty="0" err="1"/>
              <a:t>годы</a:t>
            </a:r>
            <a:r>
              <a:rPr lang="uk-UA" sz="4000" dirty="0"/>
              <a:t> </a:t>
            </a:r>
            <a:r>
              <a:rPr lang="ru-RU" sz="4000" dirty="0"/>
              <a:t>до </a:t>
            </a:r>
            <a:r>
              <a:rPr lang="ru-RU" sz="4000" dirty="0" err="1"/>
              <a:t>н.э</a:t>
            </a:r>
            <a:r>
              <a:rPr lang="ru-RU" sz="4000" dirty="0"/>
              <a:t>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9239C9-4A54-C7E9-2295-EB4C8E0ABE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1764174"/>
            <a:ext cx="5770605" cy="4040660"/>
          </a:xfrm>
        </p:spPr>
        <p:txBody>
          <a:bodyPr>
            <a:normAutofit/>
          </a:bodyPr>
          <a:lstStyle/>
          <a:p>
            <a:r>
              <a:rPr lang="ru-RU" b="0" i="0" dirty="0">
                <a:solidFill>
                  <a:srgbClr val="333333"/>
                </a:solidFill>
                <a:effectLst/>
              </a:rPr>
              <a:t>Парменид происходил из знатной и богатой семьи.</a:t>
            </a:r>
          </a:p>
          <a:p>
            <a:r>
              <a:rPr lang="ru-RU" b="0" i="0" dirty="0">
                <a:solidFill>
                  <a:srgbClr val="333333"/>
                </a:solidFill>
                <a:effectLst/>
              </a:rPr>
              <a:t>Свои взгляды выразил в метафизической поэме «О природе»,</a:t>
            </a:r>
            <a:r>
              <a:rPr lang="ru-RU" dirty="0">
                <a:solidFill>
                  <a:srgbClr val="333333"/>
                </a:solidFill>
              </a:rPr>
              <a:t> </a:t>
            </a:r>
            <a:r>
              <a:rPr lang="ru-RU" b="0" i="0" dirty="0">
                <a:solidFill>
                  <a:srgbClr val="333333"/>
                </a:solidFill>
                <a:effectLst/>
              </a:rPr>
              <a:t>значительная часть отрывков которой дошла до нас. В ней содержатся основные положения элейской философии.</a:t>
            </a:r>
          </a:p>
          <a:p>
            <a:r>
              <a:rPr lang="ru-RU" b="0" i="0" dirty="0">
                <a:solidFill>
                  <a:srgbClr val="333333"/>
                </a:solidFill>
                <a:effectLst/>
              </a:rPr>
              <a:t>По его выводу, истинно знание вечного, неизменного бытия, а «мыслить и быть — одно и то же».</a:t>
            </a:r>
          </a:p>
        </p:txBody>
      </p:sp>
      <p:pic>
        <p:nvPicPr>
          <p:cNvPr id="2052" name="Picture 4" descr="Бытие» Парменида за пределами античного философского ...">
            <a:extLst>
              <a:ext uri="{FF2B5EF4-FFF2-40B4-BE49-F238E27FC236}">
                <a16:creationId xmlns:a16="http://schemas.microsoft.com/office/drawing/2014/main" id="{6B5A288E-7253-3D45-C625-74F89E5C6198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2164" y="1764174"/>
            <a:ext cx="3207514" cy="398800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65692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D400D-2ED2-5756-35D0-E2271CDC9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F0A617-3CCA-B9F8-2B40-CBE9A04F5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590796"/>
            <a:ext cx="3855720" cy="786740"/>
          </a:xfrm>
        </p:spPr>
        <p:txBody>
          <a:bodyPr/>
          <a:lstStyle/>
          <a:p>
            <a:pPr algn="ctr"/>
            <a:r>
              <a:rPr lang="ru-RU" sz="2800" dirty="0"/>
              <a:t>Основные идеи Парменида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F57E6F9-086B-8937-55EB-30CCDCE7A2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8258" y="1751611"/>
            <a:ext cx="4667003" cy="4536374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bg1"/>
                </a:solidFill>
                <a:effectLst/>
              </a:rPr>
              <a:t>Помимо Бытия нет ничего. Также и мышление, и мыслимое есть Бытие, ибо нельзя мыслить ни о чём.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bg1"/>
                </a:solidFill>
                <a:effectLst/>
              </a:rPr>
              <a:t>Бытие никем и ничем не порождено. Иначе пришлось бы признать, что оно произошло из Небытия, но Небытия нет.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bg1"/>
                </a:solidFill>
                <a:effectLst/>
              </a:rPr>
              <a:t>Бытие не подвержено порче и гибели. Иначе оно превратилось бы в Небытие, но Небытия не существует.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bg1"/>
                </a:solidFill>
                <a:effectLst/>
              </a:rPr>
              <a:t>У Бытия нет ни прошлого, ни будущего. Бытие есть чистое настоящее. Оно неподвижно, однородно, совершенно и ограниченно, имеет форму шара.</a:t>
            </a:r>
          </a:p>
        </p:txBody>
      </p:sp>
      <p:pic>
        <p:nvPicPr>
          <p:cNvPr id="3080" name="Picture 8" descr="undefined">
            <a:extLst>
              <a:ext uri="{FF2B5EF4-FFF2-40B4-BE49-F238E27FC236}">
                <a16:creationId xmlns:a16="http://schemas.microsoft.com/office/drawing/2014/main" id="{51BBB4A8-B54D-D33B-3FC8-68796CBC13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7020" y="508704"/>
            <a:ext cx="4247792" cy="55536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50854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96745-5343-33E6-9ABD-2FC5E255A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6B34D6-51EC-F761-025B-D832A6A985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dirty="0"/>
              <a:t>Зенон </a:t>
            </a:r>
            <a:r>
              <a:rPr lang="uk-UA" dirty="0" err="1"/>
              <a:t>элейский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23FFC76-D655-44E5-29B7-906217F9D3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Как ученик и деятель Элейской школы</a:t>
            </a:r>
          </a:p>
        </p:txBody>
      </p:sp>
    </p:spTree>
    <p:extLst>
      <p:ext uri="{BB962C8B-B14F-4D97-AF65-F5344CB8AC3E}">
        <p14:creationId xmlns:p14="http://schemas.microsoft.com/office/powerpoint/2010/main" val="8724863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BC5A2-74C6-D50A-9E0E-E53D448E6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0485CC-DFFB-4FA1-E502-AD6E952D6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685800"/>
            <a:ext cx="9939647" cy="1485900"/>
          </a:xfrm>
        </p:spPr>
        <p:txBody>
          <a:bodyPr>
            <a:normAutofit/>
          </a:bodyPr>
          <a:lstStyle/>
          <a:p>
            <a:r>
              <a:rPr lang="ru-RU" sz="4000" dirty="0"/>
              <a:t>Зенон Элейский (</a:t>
            </a:r>
            <a:r>
              <a:rPr lang="uk-UA" sz="4000" dirty="0"/>
              <a:t>490-</a:t>
            </a:r>
            <a:r>
              <a:rPr lang="en-US" sz="4000" dirty="0"/>
              <a:t>e</a:t>
            </a:r>
            <a:r>
              <a:rPr lang="uk-UA" sz="4000" dirty="0"/>
              <a:t> – 430</a:t>
            </a:r>
            <a:r>
              <a:rPr lang="en-US" sz="4000" dirty="0"/>
              <a:t>-e</a:t>
            </a:r>
            <a:r>
              <a:rPr lang="uk-UA" sz="4000" dirty="0"/>
              <a:t> </a:t>
            </a:r>
            <a:r>
              <a:rPr lang="uk-UA" sz="4000" dirty="0" err="1"/>
              <a:t>годы</a:t>
            </a:r>
            <a:r>
              <a:rPr lang="uk-UA" sz="4000" dirty="0"/>
              <a:t> </a:t>
            </a:r>
            <a:r>
              <a:rPr lang="ru-RU" sz="4000" dirty="0"/>
              <a:t>до </a:t>
            </a:r>
            <a:r>
              <a:rPr lang="ru-RU" sz="4000" dirty="0" err="1"/>
              <a:t>н.э</a:t>
            </a:r>
            <a:r>
              <a:rPr lang="ru-RU" sz="4000" dirty="0"/>
              <a:t>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C36375-F78E-961B-FDD5-1028FB9C52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1764174"/>
            <a:ext cx="5545777" cy="4040660"/>
          </a:xfrm>
        </p:spPr>
        <p:txBody>
          <a:bodyPr>
            <a:normAutofit lnSpcReduction="10000"/>
          </a:bodyPr>
          <a:lstStyle/>
          <a:p>
            <a:r>
              <a:rPr lang="ru-RU" dirty="0">
                <a:solidFill>
                  <a:srgbClr val="333333"/>
                </a:solidFill>
              </a:rPr>
              <a:t>Д</a:t>
            </a:r>
            <a:r>
              <a:rPr lang="ru-RU" b="0" i="0" dirty="0">
                <a:solidFill>
                  <a:srgbClr val="333333"/>
                </a:solidFill>
                <a:effectLst/>
              </a:rPr>
              <a:t>ревнегреческий философ, ученик Парменида, представитель Элейской школы. </a:t>
            </a:r>
          </a:p>
          <a:p>
            <a:r>
              <a:rPr lang="ru-RU" b="0" i="0" dirty="0">
                <a:solidFill>
                  <a:srgbClr val="333333"/>
                </a:solidFill>
                <a:effectLst/>
              </a:rPr>
              <a:t>Знаменит своими апориями, которыми он пытался доказать противоречивость концепций движения, пространства и множества.</a:t>
            </a:r>
          </a:p>
          <a:p>
            <a:r>
              <a:rPr lang="ru-RU" b="0" i="0" dirty="0">
                <a:solidFill>
                  <a:srgbClr val="333333"/>
                </a:solidFill>
                <a:effectLst/>
              </a:rPr>
              <a:t>Зенон учился у Ксенофана и Парменида. Написал ряд философских трудов, которые не сохранились. Из упоминаний комментаторов известны названия некоторых из них: «Споры», «Толкование стихов Эмпедокла», «Против философов» и «О природе».</a:t>
            </a:r>
          </a:p>
        </p:txBody>
      </p:sp>
      <p:pic>
        <p:nvPicPr>
          <p:cNvPr id="5128" name="Picture 8" descr="Апории Зенона. Предварительные выводы (Марина Артюх) / Стихи.ру">
            <a:extLst>
              <a:ext uri="{FF2B5EF4-FFF2-40B4-BE49-F238E27FC236}">
                <a16:creationId xmlns:a16="http://schemas.microsoft.com/office/drawing/2014/main" id="{38C66586-2357-3AC2-3AF1-30BD6DF0F14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3364" y="1652913"/>
            <a:ext cx="3067036" cy="426318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65974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6D711-0E28-5244-30B7-A8DAAC356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84666B-B4C7-B97F-BBA5-B753F6129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023" y="575952"/>
            <a:ext cx="3717471" cy="786740"/>
          </a:xfrm>
        </p:spPr>
        <p:txBody>
          <a:bodyPr/>
          <a:lstStyle/>
          <a:p>
            <a:pPr algn="ctr"/>
            <a:r>
              <a:rPr lang="ru-RU" sz="2800" dirty="0"/>
              <a:t>Основные идеи Зенона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87F98A7-D250-9E94-1B78-892744746A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65760" y="1638795"/>
            <a:ext cx="4681254" cy="4689268"/>
          </a:xfrm>
        </p:spPr>
        <p:txBody>
          <a:bodyPr>
            <a:normAutofit fontScale="92500"/>
          </a:bodyPr>
          <a:lstStyle/>
          <a:p>
            <a:r>
              <a:rPr lang="ru-RU" b="0" i="0" dirty="0">
                <a:solidFill>
                  <a:schemeClr val="bg1"/>
                </a:solidFill>
                <a:effectLst/>
              </a:rPr>
              <a:t>Современники упоминали 40 апорий Зенона, до нас дошли 9, обсуждаемые у Аристотеля и его комментаторов. Все апории являются «доказательствами от противного» — в каждой из них Зенон допускает положение, несовместимое с философией Парменида (например, что путь движущегося тела неограниченно делим или состоит из отдельных неделимых точек), после чего выводит из этого положения логическое противоречие.</a:t>
            </a:r>
          </a:p>
          <a:p>
            <a:r>
              <a:rPr lang="ru-RU" b="0" i="0" dirty="0">
                <a:solidFill>
                  <a:schemeClr val="bg1"/>
                </a:solidFill>
                <a:effectLst/>
              </a:rPr>
              <a:t>Наиболее известны апории о движении: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bg1"/>
                </a:solidFill>
                <a:effectLst/>
              </a:rPr>
              <a:t>Ахиллес и черепаха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bg1"/>
                </a:solidFill>
                <a:effectLst/>
              </a:rPr>
              <a:t>Дихотомия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bg1"/>
                </a:solidFill>
                <a:effectLst/>
              </a:rPr>
              <a:t>Стрела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bg1"/>
                </a:solidFill>
                <a:effectLst/>
              </a:rPr>
              <a:t>Стадион</a:t>
            </a:r>
          </a:p>
        </p:txBody>
      </p:sp>
      <p:pic>
        <p:nvPicPr>
          <p:cNvPr id="4098" name="Picture 2" descr="Зенон Элейский — Википедия">
            <a:extLst>
              <a:ext uri="{FF2B5EF4-FFF2-40B4-BE49-F238E27FC236}">
                <a16:creationId xmlns:a16="http://schemas.microsoft.com/office/drawing/2014/main" id="{3CAB29F0-63CF-8245-1E79-B12DDF886E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2676" y="315835"/>
            <a:ext cx="4971494" cy="612504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4344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C50A4-EC44-528B-89B7-D8FDC613D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76E104-0FF3-9878-F597-E8F6360552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dirty="0" err="1"/>
              <a:t>заключение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9AA0B31-0A49-6AA8-FA74-4A2A1F8582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539679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C4BA4-6972-13A4-CA79-50B6D634C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CAADB7-14B5-3762-8427-8050FE495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3792" y="801584"/>
            <a:ext cx="9767454" cy="1370116"/>
          </a:xfrm>
        </p:spPr>
        <p:txBody>
          <a:bodyPr>
            <a:normAutofit/>
          </a:bodyPr>
          <a:lstStyle/>
          <a:p>
            <a:r>
              <a:rPr lang="ru-RU" sz="4000" dirty="0"/>
              <a:t>Элейская Школа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13C28E-B413-DA6C-17B3-80FC319582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1894114"/>
            <a:ext cx="4839195" cy="3910720"/>
          </a:xfrm>
        </p:spPr>
        <p:txBody>
          <a:bodyPr>
            <a:normAutofit fontScale="92500" lnSpcReduction="10000"/>
          </a:bodyPr>
          <a:lstStyle/>
          <a:p>
            <a:r>
              <a:rPr lang="ru-RU" b="0" i="0" dirty="0">
                <a:solidFill>
                  <a:srgbClr val="333333"/>
                </a:solidFill>
                <a:effectLst/>
              </a:rPr>
              <a:t>Значение Элейской школы в греческой философии и в истории философии чрезвычайно велико. </a:t>
            </a:r>
          </a:p>
          <a:p>
            <a:r>
              <a:rPr lang="ru-RU" b="0" i="0" dirty="0">
                <a:solidFill>
                  <a:srgbClr val="333333"/>
                </a:solidFill>
                <a:effectLst/>
              </a:rPr>
              <a:t>Элеаты явились сознательными защитниками единства всего существующего, они же открыли глубокие противоречия, коренящиеся в обычном, основанном на восприятии представлении о вселенной. </a:t>
            </a:r>
          </a:p>
          <a:p>
            <a:r>
              <a:rPr lang="ru-RU" b="0" i="0" dirty="0" err="1">
                <a:solidFill>
                  <a:srgbClr val="333333"/>
                </a:solidFill>
                <a:effectLst/>
              </a:rPr>
              <a:t>Эпервые</a:t>
            </a:r>
            <a:r>
              <a:rPr lang="ru-RU" b="0" i="0" dirty="0">
                <a:solidFill>
                  <a:srgbClr val="333333"/>
                </a:solidFill>
                <a:effectLst/>
              </a:rPr>
              <a:t> вполне отчётливо различили действительно существующее, постигаемое мыслью, от явления, с которым человек знакомится благодаря чувствам. </a:t>
            </a:r>
          </a:p>
        </p:txBody>
      </p:sp>
      <p:pic>
        <p:nvPicPr>
          <p:cNvPr id="6148" name="Picture 4" descr="Лекция Свободной школы сопротивления «Гераклит. Элейская школа» |  Сахаровский центр">
            <a:extLst>
              <a:ext uri="{FF2B5EF4-FFF2-40B4-BE49-F238E27FC236}">
                <a16:creationId xmlns:a16="http://schemas.microsoft.com/office/drawing/2014/main" id="{1A573991-85E8-7C9F-D3BB-17260A36EDC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4946" y="1894114"/>
            <a:ext cx="4376924" cy="324216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359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185DF-E53D-B7C1-0D5E-9D1A01396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4AC421C-E9BE-77E1-B62A-FAEEB2412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804" y="1434997"/>
            <a:ext cx="7620392" cy="398800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E558131-1BE6-B176-C3C8-88CC77D048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66410" y="649001"/>
            <a:ext cx="4690454" cy="1086237"/>
          </a:xfrm>
        </p:spPr>
        <p:txBody>
          <a:bodyPr>
            <a:normAutofit/>
          </a:bodyPr>
          <a:lstStyle/>
          <a:p>
            <a:r>
              <a:rPr lang="ru-RU" sz="2800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7398742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Уголки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ndara">
      <a:maj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Уголки</Template>
  <TotalTime>116</TotalTime>
  <Words>818</Words>
  <Application>Microsoft Office PowerPoint</Application>
  <PresentationFormat>Широкоэкранный</PresentationFormat>
  <Paragraphs>53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Candara</vt:lpstr>
      <vt:lpstr>Franklin Gothic Book</vt:lpstr>
      <vt:lpstr>Times New Roman</vt:lpstr>
      <vt:lpstr>Уголки</vt:lpstr>
      <vt:lpstr>Элейская школа</vt:lpstr>
      <vt:lpstr>г. ЭЛЕЯ</vt:lpstr>
      <vt:lpstr>Основные положения элеатов</vt:lpstr>
      <vt:lpstr>Ксенофан</vt:lpstr>
      <vt:lpstr>Ксенофан (конец VI – начало V в. до н.э)</vt:lpstr>
      <vt:lpstr>Основные идеи Ксенофана</vt:lpstr>
      <vt:lpstr>парменид</vt:lpstr>
      <vt:lpstr>Парменид (540-e – 470-e годы до н.э)</vt:lpstr>
      <vt:lpstr>Основные идеи Парменида</vt:lpstr>
      <vt:lpstr>Зенон элейский</vt:lpstr>
      <vt:lpstr>Зенон Элейский (490-e – 430-e годы до н.э)</vt:lpstr>
      <vt:lpstr>Основные идеи Зенона</vt:lpstr>
      <vt:lpstr>заключение</vt:lpstr>
      <vt:lpstr>Элейская Школа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Элейская школа</dc:title>
  <dc:creator>Angesie</dc:creator>
  <cp:lastModifiedBy>Angesie</cp:lastModifiedBy>
  <cp:revision>8</cp:revision>
  <dcterms:created xsi:type="dcterms:W3CDTF">2024-02-12T14:29:28Z</dcterms:created>
  <dcterms:modified xsi:type="dcterms:W3CDTF">2024-02-12T16:26:03Z</dcterms:modified>
</cp:coreProperties>
</file>